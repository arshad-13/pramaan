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Calibri"/>
              </a:rPr>
              <a:t>Share of each anomaly type flagged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Huge dose</c:v>
                  </c:pt>
                  <c:pt idx="1">
                    <c:v>Many medicines</c:v>
                  </c:pt>
                  <c:pt idx="2">
                    <c:v>Night burst</c:v>
                  </c:pt>
                  <c:pt idx="3">
                    <c:v>Specialty switch</c:v>
                  </c:pt>
                  <c:pt idx="4">
                    <c:v>Patient flood</c:v>
                  </c:pt>
                  <c:pt idx="5">
                    <c:v>Slow drip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alone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Huge dose</c:v>
                  </c:pt>
                  <c:pt idx="1">
                    <c:v>Many medicines</c:v>
                  </c:pt>
                  <c:pt idx="2">
                    <c:v>Night burst</c:v>
                  </c:pt>
                  <c:pt idx="3">
                    <c:v>Specialty switch</c:v>
                  </c:pt>
                  <c:pt idx="4">
                    <c:v>Patient flood</c:v>
                  </c:pt>
                  <c:pt idx="5">
                    <c:v>Slow drip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</c:v>
                </c:pt>
                <c:pt idx="1">
                  <c:v>21</c:v>
                </c:pt>
                <c:pt idx="2">
                  <c:v>100</c:v>
                </c:pt>
                <c:pt idx="3">
                  <c:v>55</c:v>
                </c:pt>
                <c:pt idx="4">
                  <c:v>93</c:v>
                </c:pt>
                <c:pt idx="5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Rules + model</c:v>
                </c:pt>
              </c:strCache>
            </c:strRef>
          </c:tx>
          <c:spPr>
            <a:solidFill>
              <a:srgbClr val="0F8F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Huge dose</c:v>
                  </c:pt>
                  <c:pt idx="1">
                    <c:v>Many medicines</c:v>
                  </c:pt>
                  <c:pt idx="2">
                    <c:v>Night burst</c:v>
                  </c:pt>
                  <c:pt idx="3">
                    <c:v>Specialty switch</c:v>
                  </c:pt>
                  <c:pt idx="4">
                    <c:v>Patient flood</c:v>
                  </c:pt>
                  <c:pt idx="5">
                    <c:v>Slow drip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99</c:v>
                </c:pt>
                <c:pt idx="1">
                  <c:v>36</c:v>
                </c:pt>
                <c:pt idx="2">
                  <c:v>100</c:v>
                </c:pt>
                <c:pt idx="3">
                  <c:v>25</c:v>
                </c:pt>
                <c:pt idx="4">
                  <c:v>99</c:v>
                </c:pt>
                <c:pt idx="5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1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5A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21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Pramaan means proof. One sentence of the project: a prescription that carries proof of who issued it and that it was never altered.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ways paper prescriptions fail: edited, forged, stolen, reused. The pharmacist has seconds and no way to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adversaries, three layers. A fourth, the insider with database access, is covered by encryption, signatures and the chained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FastAPI process serving the React app on one origin: simpler cookies, CSRF and CSP. State is SQLite plus an encrypted storage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WYSIWYS: what you see is what you sign. Domain-separated signatures, strict base64url, no floats in canonical JSON. Envelope encryption so master key rotation never rewrites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Authorization: object-level 404, role matrix. Replay: atomic dispense. Consent: PIN. Accountability: audit chain with checkpoints anchored externally.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is the real UI: the dose cell is outlined and the callout reads Signed 500 mg / Document reads 800 mg. Numbers from docs/evaluation.md: 58 generated files plus a 75-photo stress run (12 + 75 = 87 genuine photos, none accused). Photos are simulated, not real captures.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a one-class SVM and LOF score about 0.03 AUC higher than the forest on this data; the forest was kept for the spec and for its explanations. The model never blocks issuing: the doctor can override with a reason. Review band means risk of 40 or more; the review threshold is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Precedence: tampered over revoked over already used over expired over suspicious over review required over valid. Uploads add step 5; QR-only checks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are in docs/attack_suite.md. STRIDE table is in docs/threat_model.md. The suite attacks a freshly seeded instance with throwaway accounts so the demo data is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from the README: seed, start, then the eight steps. Backup video covers the same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Stated honestly in docs/threat_model.md and docs/assumptions.md.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each member’s name next to the area they owned: crypto, backend and security, AI, frontend and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822960"/>
            <a:ext cx="3474720" cy="3474720"/>
          </a:xfrm>
          <a:prstGeom prst="ellipse">
            <a:avLst/>
          </a:prstGeom>
          <a:solidFill>
            <a:srgbClr val="0B1B3A"/>
          </a:solidFill>
          <a:ln w="38100">
            <a:solidFill>
              <a:srgbClr val="0F8F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89320" y="1143000"/>
            <a:ext cx="2834640" cy="2834640"/>
          </a:xfrm>
          <a:prstGeom prst="ellipse">
            <a:avLst/>
          </a:prstGeom>
          <a:solidFill>
            <a:srgbClr val="0B1B3A"/>
          </a:solidFill>
          <a:ln w="19050">
            <a:solidFill>
              <a:srgbClr val="1B3A6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288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34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Pramaan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Tamper-proof prescription verifier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 (प्रमाण) means proof. A doctor signs; a pharmacist checks; the log cannot be quietly rewritten.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331 Information Security and Cryptography  ·  SVNIT Surat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prescriptions are easy to abuse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66928" cy="566928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033" y="1364833"/>
            <a:ext cx="306141" cy="30614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34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Edited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108960" y="12344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dose or a quantity is changed with a pen or an image editor.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3" y="2233513"/>
            <a:ext cx="306141" cy="30614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103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Forged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3108960" y="2103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prescription with a real doctor’s name and registration number.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33" y="3102193"/>
            <a:ext cx="306141" cy="30614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971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Stolen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3108960" y="2971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a genuine prescription is redeemed by someone else.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3840480"/>
            <a:ext cx="566928" cy="566928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33" y="3970873"/>
            <a:ext cx="306141" cy="30614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40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Reused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3108960" y="3840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prescription is filled again and again at different pharmacies.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492240" y="1234440"/>
            <a:ext cx="2103120" cy="3246120"/>
          </a:xfrm>
          <a:prstGeom prst="rect">
            <a:avLst/>
          </a:prstGeom>
          <a:solidFill>
            <a:srgbClr val="FBE9E7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675120" y="141732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pharmacist cannot tell, and has seconds to decide.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675120" y="3063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 gives them a verdict and the evidence behind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for three adversaries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8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is what the doctor signed. Everything else follows from that.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92608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633" y="1867753"/>
            <a:ext cx="306141" cy="3061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forger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what is printed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over the exact content, plus a field-by-field comparison of the page with the signed record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508760"/>
            <a:ext cx="2560320" cy="292608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737360"/>
            <a:ext cx="566928" cy="566928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833" y="1867753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abuser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Replays, over-prescribes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2004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dispensing, patient PIN, rate limits, alerts, tamper-evident log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35040" y="1508760"/>
            <a:ext cx="2560320" cy="292608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1737360"/>
            <a:ext cx="566928" cy="566928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033" y="1867753"/>
            <a:ext cx="306141" cy="30614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unusual user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behaviour, valid login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32004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and dose rules plus an anomaly model of each doctor’s habits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process, no extra services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28800" cy="1920240"/>
          </a:xfrm>
          <a:prstGeom prst="rect">
            <a:avLst/>
          </a:prstGeom>
          <a:solidFill>
            <a:srgbClr val="E3F4EE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533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642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· Patient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· Admin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upload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3291840" cy="77724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35808" y="117043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35808" y="148132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· CSP · rate limits · role checks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2011680"/>
            <a:ext cx="1554480" cy="132588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35808" y="20848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239572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· keys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1554480" cy="132588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20848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module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239572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rules · anomaly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render-and-diff · OCR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3474720"/>
            <a:ext cx="3291840" cy="86868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35808" y="354787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core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3858768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P-256 · AES-256-GCM · canonical JSON · PIN · HMAC-chained audit log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80160"/>
            <a:ext cx="1828800" cy="96012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13533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6420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keys, encrypted records, audit log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2377440"/>
            <a:ext cx="1828800" cy="96012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76288" y="2450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storage/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276148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PDFs and audit anchors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3474720"/>
            <a:ext cx="1828800" cy="86868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76288" y="35478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385876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.env, signing key, signed model file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flipV="1">
            <a:off x="2377440" y="1508760"/>
            <a:ext cx="548640" cy="137160"/>
          </a:xfrm>
          <a:prstGeom prst="line">
            <a:avLst/>
          </a:prstGeom>
          <a:noFill/>
          <a:ln w="19050">
            <a:solidFill>
              <a:srgbClr val="505A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0" y="1874520"/>
            <a:ext cx="0" cy="137160"/>
          </a:xfrm>
          <a:prstGeom prst="line">
            <a:avLst/>
          </a:prstGeom>
          <a:noFill/>
          <a:ln w="19050">
            <a:solidFill>
              <a:srgbClr val="505A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6217920" y="1828800"/>
            <a:ext cx="548640" cy="822960"/>
          </a:xfrm>
          <a:prstGeom prst="line">
            <a:avLst/>
          </a:prstGeom>
          <a:noFill/>
          <a:ln w="19050">
            <a:solidFill>
              <a:srgbClr val="505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17920" y="2743200"/>
            <a:ext cx="548640" cy="91440"/>
          </a:xfrm>
          <a:prstGeom prst="line">
            <a:avLst/>
          </a:prstGeom>
          <a:noFill/>
          <a:ln w="19050">
            <a:solidFill>
              <a:srgbClr val="505A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0" y="3337560"/>
            <a:ext cx="0" cy="137160"/>
          </a:xfrm>
          <a:prstGeom prst="line">
            <a:avLst/>
          </a:prstGeom>
          <a:noFill/>
          <a:ln w="19050">
            <a:solidFill>
              <a:srgbClr val="505A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17920" y="3886200"/>
            <a:ext cx="548640" cy="0"/>
          </a:xfrm>
          <a:prstGeom prst="line">
            <a:avLst/>
          </a:prstGeom>
          <a:noFill/>
          <a:ln w="19050">
            <a:solidFill>
              <a:srgbClr val="505A6B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path: QR or upload → decrypt → hash → signature → record cross-check → page comparison → state → risk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Cryptography: sign what is printed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29184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389888"/>
            <a:ext cx="548640" cy="548640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516075"/>
            <a:ext cx="296266" cy="2962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exact content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JSON, then SHA-256, then ECDSA P-256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 is drawn from the same signed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carries id, key, hash and 64-byte signature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329184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389888"/>
            <a:ext cx="548640" cy="548640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627" y="1516075"/>
            <a:ext cx="296266" cy="2962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 at rest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AES-256-GCM key per prescription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by a master key; rotation re-wraps, files stay 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and PDF cannot be swapped between prescriptions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188720"/>
            <a:ext cx="2560320" cy="329184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389888"/>
            <a:ext cx="548640" cy="548640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27" y="1516075"/>
            <a:ext cx="296266" cy="2962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keys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Doctor’s private key sealed by their own password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after 5 wrong passwords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Revoking a key stops its unused prescriptions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around the cryptography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61872"/>
            <a:ext cx="502920" cy="502920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312" y="1377544"/>
            <a:ext cx="271577" cy="2715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from the database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5361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checked on every request; a test fails if a route is unclassified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261872"/>
            <a:ext cx="502920" cy="502920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112" y="1377544"/>
            <a:ext cx="271577" cy="27157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49240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Activation, not signup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349240" y="15361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exist only through an admin and a one-time code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359152"/>
            <a:ext cx="502920" cy="502920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2" y="2474824"/>
            <a:ext cx="271577" cy="27157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2286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 protection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26334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atomic update, plus a unique (prescription, fill) constraint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63440" y="2359152"/>
            <a:ext cx="502920" cy="502920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112" y="2474824"/>
            <a:ext cx="271577" cy="27157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49240" y="2286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PIN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349240" y="26334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six-digit code in the patient’s account; three wrong tries lock it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456432"/>
            <a:ext cx="502920" cy="502920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2" y="3572104"/>
            <a:ext cx="271577" cy="27157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4440" y="3383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limits and alerts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234440" y="3730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IP, account and user; eight alert rules, shown to admins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63440" y="3456432"/>
            <a:ext cx="502920" cy="502920"/>
          </a:xfrm>
          <a:prstGeom prst="ellipse">
            <a:avLst/>
          </a:prstGeom>
          <a:solidFill>
            <a:srgbClr val="0F8F6F"/>
          </a:solidFill>
          <a:ln w="12700">
            <a:solidFill>
              <a:srgbClr val="0F8F6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112" y="3572104"/>
            <a:ext cx="271577" cy="27157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49240" y="3383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log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5349240" y="3730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chain, signed checkpoints and anchors outside the database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I: find exactly which field was edited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69864" y="329184"/>
            <a:ext cx="2862072" cy="354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</p:spPr>
      </p:sp>
      <p:pic>
        <p:nvPicPr>
          <p:cNvPr id="4" name="Image 0" descr="C:\Users\arsha\AppData\Local\Temp\claude\S--College-5th-sem-ISC-Project\64d23e2d-dc06-4576-b954-e9491a4d5a9a\scratchpad\deck\img\d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65760"/>
            <a:ext cx="2788920" cy="34700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 the page that should exist from the signed data.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Straighten the photo onto it (QR plus three corner marks).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field by field; read any difference with OCR.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rows must stay blank; a PDF’s hidden text must match.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tell? Say “review”, never accuse.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554480" cy="1051560"/>
          </a:xfrm>
          <a:prstGeom prst="rect">
            <a:avLst/>
          </a:prstGeom>
          <a:solidFill>
            <a:srgbClr val="E3F4EE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5844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of 29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87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digital files caught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40280" y="3520440"/>
            <a:ext cx="1554480" cy="1051560"/>
          </a:xfrm>
          <a:prstGeom prst="rect">
            <a:avLst/>
          </a:prstGeom>
          <a:solidFill>
            <a:srgbClr val="E3F4EE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31720" y="35844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of 8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331720" y="4087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photos caught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31920" y="3520440"/>
            <a:ext cx="1554480" cy="1051560"/>
          </a:xfrm>
          <a:prstGeom prst="rect">
            <a:avLst/>
          </a:prstGeom>
          <a:solidFill>
            <a:srgbClr val="E3F4EE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23360" y="35844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87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4087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photos wrongly accused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are simulated. Real photos will give more “review” results.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II: rules and learned habits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159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three: tuning set. Last three: never seen during tuning.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217920" y="1051560"/>
            <a:ext cx="2377440" cy="352044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1188720"/>
            <a:ext cx="2103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and dose rules catch the obvious: a fake drug, an absurd dose.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scores how unusual a prescription is for that doctor.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0.88 on unseen types; 10% false alarms in the review band.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synthetic. This shows the method, not real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decision flow, in a fixed order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69848" cy="105156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54480"/>
            <a:ext cx="92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QR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28216" y="1234440"/>
            <a:ext cx="1069848" cy="105156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19656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01368" y="1554480"/>
            <a:ext cx="92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record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07792" y="1234440"/>
            <a:ext cx="1069848" cy="105156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1554480"/>
            <a:ext cx="92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hash and signature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87368" y="1234440"/>
            <a:ext cx="1069848" cy="105156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78808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1554480"/>
            <a:ext cx="92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the record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66944" y="1234440"/>
            <a:ext cx="1069848" cy="1051560"/>
          </a:xfrm>
          <a:prstGeom prst="rect">
            <a:avLst/>
          </a:prstGeom>
          <a:solidFill>
            <a:srgbClr val="E3F4EE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58384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40096" y="1554480"/>
            <a:ext cx="92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page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234440"/>
            <a:ext cx="1069848" cy="105156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1554480"/>
            <a:ext cx="92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expiry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6096" y="1234440"/>
            <a:ext cx="1069848" cy="1051560"/>
          </a:xfrm>
          <a:prstGeom prst="rect">
            <a:avLst/>
          </a:prstGeom>
          <a:solidFill>
            <a:srgbClr val="F3F5F9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17536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99248" y="1554480"/>
            <a:ext cx="92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Verdict, strongest first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2880360"/>
            <a:ext cx="1600200" cy="365760"/>
          </a:xfrm>
          <a:prstGeom prst="rect">
            <a:avLst/>
          </a:prstGeom>
          <a:solidFill>
            <a:srgbClr val="FBE9E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880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integrity check fails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1600200" cy="365760"/>
          </a:xfrm>
          <a:prstGeom prst="rect">
            <a:avLst/>
          </a:prstGeom>
          <a:solidFill>
            <a:srgbClr val="FBE9E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337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28600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Doctor, key or prescription withdrawn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794760"/>
            <a:ext cx="1600200" cy="365760"/>
          </a:xfrm>
          <a:prstGeom prst="rect">
            <a:avLst/>
          </a:prstGeom>
          <a:solidFill>
            <a:srgbClr val="FFF3D6"/>
          </a:solidFill>
          <a:ln w="12700">
            <a:solidFill>
              <a:srgbClr val="A8700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794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28600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fill has been dispensed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251960"/>
            <a:ext cx="1600200" cy="365760"/>
          </a:xfrm>
          <a:prstGeom prst="rect">
            <a:avLst/>
          </a:prstGeom>
          <a:solidFill>
            <a:srgbClr val="FFF3D6"/>
          </a:solidFill>
          <a:ln w="12700">
            <a:solidFill>
              <a:srgbClr val="A8700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251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doctor’s validity date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2880360"/>
            <a:ext cx="1600200" cy="365760"/>
          </a:xfrm>
          <a:prstGeom prst="rect">
            <a:avLst/>
          </a:prstGeom>
          <a:solidFill>
            <a:srgbClr val="FFF3D6"/>
          </a:solidFill>
          <a:ln w="12700">
            <a:solidFill>
              <a:srgbClr val="A870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2880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Authentic, but unusual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3337560"/>
            <a:ext cx="1600200" cy="365760"/>
          </a:xfrm>
          <a:prstGeom prst="rect">
            <a:avLst/>
          </a:prstGeom>
          <a:solidFill>
            <a:srgbClr val="FFF3D6"/>
          </a:solidFill>
          <a:ln w="12700">
            <a:solidFill>
              <a:srgbClr val="A8700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3337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REQUIRED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Authentic, page not readable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3794760"/>
            <a:ext cx="1600200" cy="365760"/>
          </a:xfrm>
          <a:prstGeom prst="rect">
            <a:avLst/>
          </a:prstGeom>
          <a:solidFill>
            <a:srgbClr val="E3F4EE"/>
          </a:solidFill>
          <a:ln w="12700">
            <a:solidFill>
              <a:srgbClr val="0F8F6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663440" y="3794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8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never uses up a fill. Only dispensing does, with the patient’s PIN.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attacks, 16 stopped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402336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33172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 a bit of the stored payload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AES-GCM tag, hash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expiry in the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 with signed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one dose digit in an 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Render-and-diff, 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White-box overlay on a 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layer vs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an extra medicine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rows stay blank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 one QR signature character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ECDSA 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Paste another prescription’s QR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vs its own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at a second pharmacy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dispense, 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240280"/>
                <a:gridCol w="1325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dispense, 20 threads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update, unique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Redeem a photo without the PIN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with three-try 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a 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limit, lockout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the signing password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lockout, 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a token after logout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version, DB 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Pharmacist calls doctor APIs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Edit, recompute, truncate the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 chain, checkpoints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05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the anomaly model 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before 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time: python scripts/attack_suite.py. Each attack is also an automated test.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21208" y="1069848"/>
            <a:ext cx="398678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3F66"/>
            </a:solidFill>
            <a:prstDash val="solid"/>
          </a:ln>
        </p:spPr>
      </p:sp>
      <p:pic>
        <p:nvPicPr>
          <p:cNvPr id="4" name="Image 0" descr="C:\Users\arsha\AppData\Local\Temp\claude\S--College-5th-sem-ISC-Project\64d23e2d-dc06-4576-b954-e9491a4d5a9a\scratchpad\deck\img\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22885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Genuine: verified, then dispensed with the PIN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36008" y="1069848"/>
            <a:ext cx="398678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3F66"/>
            </a:solidFill>
            <a:prstDash val="solid"/>
          </a:ln>
        </p:spPr>
      </p:sp>
      <p:pic>
        <p:nvPicPr>
          <p:cNvPr id="7" name="Image 1" descr="C:\Users\arsha\AppData\Local\Temp\claude\S--College-5th-sem-ISC-Project\64d23e2d-dc06-4576-b954-e9491a4d5a9a\scratchpad\deck\img\dose-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2194560" cy="1371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6344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Edited image: the changed field is outlined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21208" y="2944368"/>
            <a:ext cx="398678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3F66"/>
            </a:solidFill>
            <a:prstDash val="solid"/>
          </a:ln>
        </p:spPr>
      </p:sp>
      <p:pic>
        <p:nvPicPr>
          <p:cNvPr id="10" name="Image 2" descr="C:\Users\arsha\AppData\Local\Temp\claude\S--College-5th-sem-ISC-Project\64d23e2d-dc06-4576-b954-e9491a4d5a9a\scratchpad\deck\img\re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2228850" cy="1371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Replay at a second pharmacy: already used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636008" y="2944368"/>
            <a:ext cx="398678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3F66"/>
            </a:solidFill>
            <a:prstDash val="solid"/>
          </a:ln>
        </p:spPr>
      </p:sp>
      <p:pic>
        <p:nvPicPr>
          <p:cNvPr id="13" name="Image 3" descr="C:\Users\arsha\AppData\Local\Temp\claude\S--College-5th-sem-ISC-Project\64d23e2d-dc06-4576-b954-e9491a4d5a9a\scratchpad\deck\img\au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971800"/>
            <a:ext cx="2228850" cy="1371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6344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Auditor verifies the audit chain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Custodial signing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109728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unseals a doctor’s key while signing. A compromised server plus a phished password could forge.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 depend on photos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75564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photos give “review”, not a verdict. Our test photos are simulated.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140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AI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41401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prescribing data exists here. The anomaly numbers show the method only.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723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infrastructure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0723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TLS, no hardware security module, single SQLite writer, in-memory rate limits.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307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clinical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73075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and dose tables are small demo sets. Regulations cited are illustrative.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3F4EE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client-side signing, an HSM, TLS, real photo trials, a multi-worker rate-limit store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 expect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13284F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 blockchain?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09728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multi-party trust problem. A keyed hash chain with signed, externally stored checkpoints gives the same tamper evidence with far less machinery.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8046720" cy="914400"/>
          </a:xfrm>
          <a:prstGeom prst="rect">
            <a:avLst/>
          </a:prstGeom>
          <a:solidFill>
            <a:srgbClr val="13284F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214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ECDSA P-256?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121408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64-byte signatures keep the QR scannable; it is a widely supported standard and fast.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45536"/>
            <a:ext cx="8046720" cy="914400"/>
          </a:xfrm>
          <a:prstGeom prst="rect">
            <a:avLst/>
          </a:prstGeom>
          <a:solidFill>
            <a:srgbClr val="13284F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4553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sign on the server?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145536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need no hardware or key management. It is custodial, so we say so, protect keys with the doctor’s password and list client-side signing as future work.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crypto · backend and security · AI · frontend and integration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tests, results and the live demo: github.com/Arshad-13/Pramaan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SVNIT Surat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Pramaan: Tamper-Proof Prescription Verifier</dc:title>
  <dc:subject>PptxGenJS Presentation</dc:subject>
  <dc:creator>AI 331 project team</dc:creator>
  <cp:lastModifiedBy>AI 331 project team</cp:lastModifiedBy>
  <cp:revision>1</cp:revision>
  <dcterms:created xsi:type="dcterms:W3CDTF">2026-10-24T18:40:12Z</dcterms:created>
  <dcterms:modified xsi:type="dcterms:W3CDTF">2026-10-24T18:40:12Z</dcterms:modified>
</cp:coreProperties>
</file>